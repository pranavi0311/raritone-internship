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8" autoAdjust="0"/>
    <p:restoredTop sz="94660"/>
  </p:normalViewPr>
  <p:slideViewPr>
    <p:cSldViewPr snapToGrid="0">
      <p:cViewPr varScale="1">
        <p:scale>
          <a:sx n="87" d="100"/>
          <a:sy n="87" d="100"/>
        </p:scale>
        <p:origin x="51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C2BD50B4-7775-4D50-8476-DEEFD114A3AA}" type="datetimeFigureOut">
              <a:rPr lang="en-IN" smtClean="0"/>
              <a:t>05-06-2026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094356-B201-4707-B1B5-A855C40AFE4C}" type="slidenum">
              <a:rPr lang="en-IN" smtClean="0"/>
              <a:t>‹#›</a:t>
            </a:fld>
            <a:endParaRPr lang="en-IN"/>
          </a:p>
        </p:txBody>
      </p:sp>
    </p:spTree>
    <p:extLst>
      <p:ext uri="{BB962C8B-B14F-4D97-AF65-F5344CB8AC3E}">
        <p14:creationId xmlns:p14="http://schemas.microsoft.com/office/powerpoint/2010/main" val="1566354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2BD50B4-7775-4D50-8476-DEEFD114A3AA}" type="datetimeFigureOut">
              <a:rPr lang="en-IN" smtClean="0"/>
              <a:t>05-06-2026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094356-B201-4707-B1B5-A855C40AFE4C}" type="slidenum">
              <a:rPr lang="en-IN" smtClean="0"/>
              <a:t>‹#›</a:t>
            </a:fld>
            <a:endParaRPr lang="en-IN"/>
          </a:p>
        </p:txBody>
      </p:sp>
    </p:spTree>
    <p:extLst>
      <p:ext uri="{BB962C8B-B14F-4D97-AF65-F5344CB8AC3E}">
        <p14:creationId xmlns:p14="http://schemas.microsoft.com/office/powerpoint/2010/main" val="13355798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2BD50B4-7775-4D50-8476-DEEFD114A3AA}" type="datetimeFigureOut">
              <a:rPr lang="en-IN" smtClean="0"/>
              <a:t>05-06-2026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094356-B201-4707-B1B5-A855C40AFE4C}" type="slidenum">
              <a:rPr lang="en-IN" smtClean="0"/>
              <a:t>‹#›</a:t>
            </a:fld>
            <a:endParaRPr lang="en-IN"/>
          </a:p>
        </p:txBody>
      </p:sp>
    </p:spTree>
    <p:extLst>
      <p:ext uri="{BB962C8B-B14F-4D97-AF65-F5344CB8AC3E}">
        <p14:creationId xmlns:p14="http://schemas.microsoft.com/office/powerpoint/2010/main" val="36080506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C2BD50B4-7775-4D50-8476-DEEFD114A3AA}" type="datetimeFigureOut">
              <a:rPr lang="en-IN" smtClean="0"/>
              <a:t>05-06-2026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D094356-B201-4707-B1B5-A855C40AFE4C}" type="slidenum">
              <a:rPr lang="en-IN" smtClean="0"/>
              <a:t>‹#›</a:t>
            </a:fld>
            <a:endParaRPr lang="en-IN"/>
          </a:p>
        </p:txBody>
      </p:sp>
    </p:spTree>
    <p:extLst>
      <p:ext uri="{BB962C8B-B14F-4D97-AF65-F5344CB8AC3E}">
        <p14:creationId xmlns:p14="http://schemas.microsoft.com/office/powerpoint/2010/main" val="16438957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C2BD50B4-7775-4D50-8476-DEEFD114A3AA}" type="datetimeFigureOut">
              <a:rPr lang="en-IN" smtClean="0"/>
              <a:t>05-06-2026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D094356-B201-4707-B1B5-A855C40AFE4C}" type="slidenum">
              <a:rPr lang="en-IN" smtClean="0"/>
              <a:t>‹#›</a:t>
            </a:fld>
            <a:endParaRPr lang="en-IN"/>
          </a:p>
        </p:txBody>
      </p:sp>
    </p:spTree>
    <p:extLst>
      <p:ext uri="{BB962C8B-B14F-4D97-AF65-F5344CB8AC3E}">
        <p14:creationId xmlns:p14="http://schemas.microsoft.com/office/powerpoint/2010/main" val="29492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C2BD50B4-7775-4D50-8476-DEEFD114A3AA}" type="datetimeFigureOut">
              <a:rPr lang="en-IN" smtClean="0"/>
              <a:t>05-06-2026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D094356-B201-4707-B1B5-A855C40AFE4C}" type="slidenum">
              <a:rPr lang="en-IN" smtClean="0"/>
              <a:t>‹#›</a:t>
            </a:fld>
            <a:endParaRPr lang="en-IN"/>
          </a:p>
        </p:txBody>
      </p:sp>
    </p:spTree>
    <p:extLst>
      <p:ext uri="{BB962C8B-B14F-4D97-AF65-F5344CB8AC3E}">
        <p14:creationId xmlns:p14="http://schemas.microsoft.com/office/powerpoint/2010/main" val="17878850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BD50B4-7775-4D50-8476-DEEFD114A3AA}" type="datetimeFigureOut">
              <a:rPr lang="en-IN" smtClean="0"/>
              <a:t>05-06-2026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D094356-B201-4707-B1B5-A855C40AFE4C}" type="slidenum">
              <a:rPr lang="en-IN" smtClean="0"/>
              <a:t>‹#›</a:t>
            </a:fld>
            <a:endParaRPr lang="en-IN"/>
          </a:p>
        </p:txBody>
      </p:sp>
    </p:spTree>
    <p:extLst>
      <p:ext uri="{BB962C8B-B14F-4D97-AF65-F5344CB8AC3E}">
        <p14:creationId xmlns:p14="http://schemas.microsoft.com/office/powerpoint/2010/main" val="19886234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2BD50B4-7775-4D50-8476-DEEFD114A3AA}" type="datetimeFigureOut">
              <a:rPr lang="en-IN" smtClean="0"/>
              <a:t>05-06-2026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D094356-B201-4707-B1B5-A855C40AFE4C}" type="slidenum">
              <a:rPr lang="en-IN" smtClean="0"/>
              <a:t>‹#›</a:t>
            </a:fld>
            <a:endParaRPr lang="en-IN"/>
          </a:p>
        </p:txBody>
      </p:sp>
    </p:spTree>
    <p:extLst>
      <p:ext uri="{BB962C8B-B14F-4D97-AF65-F5344CB8AC3E}">
        <p14:creationId xmlns:p14="http://schemas.microsoft.com/office/powerpoint/2010/main" val="25823280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2BD50B4-7775-4D50-8476-DEEFD114A3AA}" type="datetimeFigureOut">
              <a:rPr lang="en-IN" smtClean="0"/>
              <a:t>05-06-2026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D094356-B201-4707-B1B5-A855C40AFE4C}" type="slidenum">
              <a:rPr lang="en-IN" smtClean="0"/>
              <a:t>‹#›</a:t>
            </a:fld>
            <a:endParaRPr lang="en-IN"/>
          </a:p>
        </p:txBody>
      </p:sp>
    </p:spTree>
    <p:extLst>
      <p:ext uri="{BB962C8B-B14F-4D97-AF65-F5344CB8AC3E}">
        <p14:creationId xmlns:p14="http://schemas.microsoft.com/office/powerpoint/2010/main" val="38731119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2BD50B4-7775-4D50-8476-DEEFD114A3AA}" type="datetimeFigureOut">
              <a:rPr lang="en-IN" smtClean="0"/>
              <a:t>05-06-2026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094356-B201-4707-B1B5-A855C40AFE4C}" type="slidenum">
              <a:rPr lang="en-IN" smtClean="0"/>
              <a:t>‹#›</a:t>
            </a:fld>
            <a:endParaRPr lang="en-IN"/>
          </a:p>
        </p:txBody>
      </p:sp>
    </p:spTree>
    <p:extLst>
      <p:ext uri="{BB962C8B-B14F-4D97-AF65-F5344CB8AC3E}">
        <p14:creationId xmlns:p14="http://schemas.microsoft.com/office/powerpoint/2010/main" val="27710852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2BD50B4-7775-4D50-8476-DEEFD114A3AA}" type="datetimeFigureOut">
              <a:rPr lang="en-IN" smtClean="0"/>
              <a:t>05-06-2026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094356-B201-4707-B1B5-A855C40AFE4C}" type="slidenum">
              <a:rPr lang="en-IN" smtClean="0"/>
              <a:t>‹#›</a:t>
            </a:fld>
            <a:endParaRPr lang="en-IN"/>
          </a:p>
        </p:txBody>
      </p:sp>
    </p:spTree>
    <p:extLst>
      <p:ext uri="{BB962C8B-B14F-4D97-AF65-F5344CB8AC3E}">
        <p14:creationId xmlns:p14="http://schemas.microsoft.com/office/powerpoint/2010/main" val="13581549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2BD50B4-7775-4D50-8476-DEEFD114A3AA}" type="datetimeFigureOut">
              <a:rPr lang="en-IN" smtClean="0"/>
              <a:t>05-06-2026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D094356-B201-4707-B1B5-A855C40AFE4C}" type="slidenum">
              <a:rPr lang="en-IN" smtClean="0"/>
              <a:t>‹#›</a:t>
            </a:fld>
            <a:endParaRPr lang="en-IN"/>
          </a:p>
        </p:txBody>
      </p:sp>
    </p:spTree>
    <p:extLst>
      <p:ext uri="{BB962C8B-B14F-4D97-AF65-F5344CB8AC3E}">
        <p14:creationId xmlns:p14="http://schemas.microsoft.com/office/powerpoint/2010/main" val="34574495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b="1" dirty="0"/>
              <a:t>Title:</a:t>
            </a:r>
            <a:r>
              <a:rPr lang="en-US" dirty="0" smtClean="0"/>
              <a:t> AI-Powered Virtual Try-On &amp; Fashion Recommendation System</a:t>
            </a:r>
            <a:endParaRPr lang="en-IN" dirty="0"/>
          </a:p>
        </p:txBody>
      </p:sp>
    </p:spTree>
    <p:extLst>
      <p:ext uri="{BB962C8B-B14F-4D97-AF65-F5344CB8AC3E}">
        <p14:creationId xmlns:p14="http://schemas.microsoft.com/office/powerpoint/2010/main" val="23294730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 STATEMENT</a:t>
            </a:r>
            <a:endParaRPr lang="en-IN" dirty="0"/>
          </a:p>
        </p:txBody>
      </p:sp>
      <p:sp>
        <p:nvSpPr>
          <p:cNvPr id="3" name="Content Placeholder 2"/>
          <p:cNvSpPr>
            <a:spLocks noGrp="1"/>
          </p:cNvSpPr>
          <p:nvPr>
            <p:ph idx="1"/>
          </p:nvPr>
        </p:nvSpPr>
        <p:spPr/>
        <p:txBody>
          <a:bodyPr/>
          <a:lstStyle/>
          <a:p>
            <a:r>
              <a:rPr lang="en-US" dirty="0" smtClean="0"/>
              <a:t>The current fashion e-commerce landscape is plagued by high return rates, often exceeding 30%, primarily due to "size uncertainty" and "visual mismatch"—where the customer cannot accurately judge how a garment will fit or look on their specific body type. While traditional shopping allows for physical trials, online consumers are forced to rely on static model images that rarely reflect their own proportions. This creates a significant gap between consumer expectation and reality, leading to increased logistics costs for retailers and a frustrating user experience. </a:t>
            </a:r>
            <a:endParaRPr lang="en-IN" dirty="0"/>
          </a:p>
        </p:txBody>
      </p:sp>
    </p:spTree>
    <p:extLst>
      <p:ext uri="{BB962C8B-B14F-4D97-AF65-F5344CB8AC3E}">
        <p14:creationId xmlns:p14="http://schemas.microsoft.com/office/powerpoint/2010/main" val="42266590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Research &amp; Comparative Study</a:t>
            </a:r>
            <a:endParaRPr lang="en-IN" dirty="0"/>
          </a:p>
        </p:txBody>
      </p:sp>
      <p:sp>
        <p:nvSpPr>
          <p:cNvPr id="4" name="Rectangle 1"/>
          <p:cNvSpPr>
            <a:spLocks noGrp="1" noChangeArrowheads="1"/>
          </p:cNvSpPr>
          <p:nvPr>
            <p:ph idx="1"/>
          </p:nvPr>
        </p:nvSpPr>
        <p:spPr bwMode="auto">
          <a:xfrm>
            <a:off x="378890" y="1954394"/>
            <a:ext cx="11434220" cy="2154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chemeClr val="tx1"/>
                </a:solidFill>
                <a:effectLst/>
                <a:latin typeface="Google Sans"/>
              </a:rPr>
              <a:t>Warping Methods:</a:t>
            </a:r>
            <a:r>
              <a:rPr kumimoji="0" lang="en-US" altLang="en-US" b="0" i="0" u="none" strike="noStrike" cap="none" normalizeH="0" baseline="0" dirty="0" smtClean="0">
                <a:ln>
                  <a:noFill/>
                </a:ln>
                <a:solidFill>
                  <a:schemeClr val="tx1"/>
                </a:solidFill>
                <a:effectLst/>
                <a:latin typeface="Google Sans"/>
              </a:rPr>
              <a:t> Evaluated TPS (Geometric) vs. VITON-HD </a:t>
            </a:r>
            <a:r>
              <a:rPr kumimoji="0" lang="en-US" altLang="en-US" sz="1200" b="0" i="0" u="none" strike="noStrike" cap="none" normalizeH="0" baseline="0" dirty="0" smtClean="0">
                <a:ln>
                  <a:noFill/>
                </a:ln>
                <a:solidFill>
                  <a:schemeClr val="tx1"/>
                </a:solidFill>
                <a:effectLst/>
                <a:latin typeface="Google Sans"/>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chemeClr val="tx1"/>
                </a:solidFill>
                <a:effectLst/>
                <a:latin typeface="Google Sans"/>
              </a:rPr>
              <a:t>Recommendation Engine:</a:t>
            </a:r>
            <a:r>
              <a:rPr kumimoji="0" lang="en-US" altLang="en-US" b="0" i="0" u="none" strike="noStrike" cap="none" normalizeH="0" baseline="0" dirty="0" smtClean="0">
                <a:ln>
                  <a:noFill/>
                </a:ln>
                <a:solidFill>
                  <a:schemeClr val="tx1"/>
                </a:solidFill>
                <a:effectLst/>
                <a:latin typeface="Google Sans"/>
              </a:rPr>
              <a:t> Studied Content-Based vs. Hybrid filtering.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chemeClr val="tx1"/>
                </a:solidFill>
                <a:effectLst/>
                <a:latin typeface="Google Sans"/>
              </a:rPr>
              <a:t>Datasets:</a:t>
            </a:r>
            <a:r>
              <a:rPr kumimoji="0" lang="en-US" altLang="en-US" b="0" i="0" u="none" strike="noStrike" cap="none" normalizeH="0" baseline="0" dirty="0" smtClean="0">
                <a:ln>
                  <a:noFill/>
                </a:ln>
                <a:solidFill>
                  <a:schemeClr val="tx1"/>
                </a:solidFill>
                <a:effectLst/>
                <a:latin typeface="Google Sans"/>
              </a:rPr>
              <a:t> used  VITON-HD/</a:t>
            </a:r>
            <a:r>
              <a:rPr kumimoji="0" lang="en-US" altLang="en-US" b="0" i="0" u="none" strike="noStrike" cap="none" normalizeH="0" baseline="0" dirty="0" err="1" smtClean="0">
                <a:ln>
                  <a:noFill/>
                </a:ln>
                <a:solidFill>
                  <a:schemeClr val="tx1"/>
                </a:solidFill>
                <a:effectLst/>
                <a:latin typeface="Google Sans"/>
              </a:rPr>
              <a:t>DeepFashion</a:t>
            </a:r>
            <a:r>
              <a:rPr kumimoji="0" lang="en-US" altLang="en-US" b="0" i="0" u="none" strike="noStrike" cap="none" normalizeH="0" baseline="0" dirty="0" smtClean="0">
                <a:ln>
                  <a:noFill/>
                </a:ln>
                <a:solidFill>
                  <a:schemeClr val="tx1"/>
                </a:solidFill>
                <a:effectLst/>
                <a:latin typeface="Google Sans"/>
              </a:rPr>
              <a:t> for training.</a:t>
            </a:r>
            <a:r>
              <a:rPr kumimoji="0" lang="en-US" altLang="en-US" b="0" i="0" u="none" strike="noStrike" cap="none" normalizeH="0" baseline="0" dirty="0" smtClean="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b="1" dirty="0" smtClean="0">
                <a:latin typeface="Arial" panose="020B0604020202020204" pitchFamily="34" charset="0"/>
              </a:rPr>
              <a:t>2D Virtual Tryon </a:t>
            </a:r>
            <a:r>
              <a:rPr lang="en-US" altLang="en-US" dirty="0" smtClean="0">
                <a:latin typeface="Arial" panose="020B0604020202020204" pitchFamily="34" charset="0"/>
              </a:rPr>
              <a:t>:Studied different VTON Models.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chemeClr val="tx1"/>
                </a:solidFill>
                <a:effectLst/>
                <a:latin typeface="Arial" panose="020B0604020202020204" pitchFamily="34" charset="0"/>
              </a:rPr>
              <a:t>AR Technologies</a:t>
            </a:r>
            <a:r>
              <a:rPr kumimoji="0" lang="en-US" altLang="en-US" b="0" i="0" u="none" strike="noStrike" cap="none" normalizeH="0" baseline="0" dirty="0" smtClean="0">
                <a:ln>
                  <a:noFill/>
                </a:ln>
                <a:solidFill>
                  <a:schemeClr val="tx1"/>
                </a:solidFill>
                <a:effectLst/>
                <a:latin typeface="Arial" panose="020B0604020202020204" pitchFamily="34" charset="0"/>
              </a:rPr>
              <a:t>: Evaluated different AR</a:t>
            </a:r>
            <a:r>
              <a:rPr kumimoji="0" lang="en-US" altLang="en-US" b="0" i="0" u="none" strike="noStrike" cap="none" normalizeH="0" dirty="0" smtClean="0">
                <a:ln>
                  <a:noFill/>
                </a:ln>
                <a:solidFill>
                  <a:schemeClr val="tx1"/>
                </a:solidFill>
                <a:effectLst/>
                <a:latin typeface="Arial" panose="020B0604020202020204" pitchFamily="34" charset="0"/>
              </a:rPr>
              <a:t> technologies</a:t>
            </a:r>
            <a:endParaRPr kumimoji="0" lang="en-US" altLang="en-US"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836415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AI Workflow</a:t>
            </a:r>
            <a:endParaRPr lang="en-IN" dirty="0"/>
          </a:p>
        </p:txBody>
      </p:sp>
      <p:sp>
        <p:nvSpPr>
          <p:cNvPr id="3" name="Content Placeholder 2"/>
          <p:cNvSpPr>
            <a:spLocks noGrp="1"/>
          </p:cNvSpPr>
          <p:nvPr>
            <p:ph idx="1"/>
          </p:nvPr>
        </p:nvSpPr>
        <p:spPr>
          <a:xfrm>
            <a:off x="838200" y="1447556"/>
            <a:ext cx="10515600" cy="4351338"/>
          </a:xfrm>
        </p:spPr>
        <p:txBody>
          <a:bodyPr>
            <a:normAutofit lnSpcReduction="10000"/>
          </a:bodyPr>
          <a:lstStyle/>
          <a:p>
            <a:pPr marL="514350" indent="-514350">
              <a:buFont typeface="+mj-lt"/>
              <a:buAutoNum type="arabicPeriod"/>
            </a:pPr>
            <a:r>
              <a:rPr lang="en-US" dirty="0"/>
              <a:t>U</a:t>
            </a:r>
            <a:r>
              <a:rPr lang="en-US" dirty="0" smtClean="0"/>
              <a:t>ser uploads image</a:t>
            </a:r>
          </a:p>
          <a:p>
            <a:pPr marL="514350" indent="-514350">
              <a:buFont typeface="+mj-lt"/>
              <a:buAutoNum type="arabicPeriod"/>
            </a:pPr>
            <a:r>
              <a:rPr lang="en-US" dirty="0" smtClean="0"/>
              <a:t>Body detection</a:t>
            </a:r>
          </a:p>
          <a:p>
            <a:pPr marL="514350" indent="-514350">
              <a:buFont typeface="+mj-lt"/>
              <a:buAutoNum type="arabicPeriod"/>
            </a:pPr>
            <a:r>
              <a:rPr lang="en-US" dirty="0" smtClean="0"/>
              <a:t>Pose estimation</a:t>
            </a:r>
          </a:p>
          <a:p>
            <a:pPr marL="514350" indent="-514350">
              <a:buFont typeface="+mj-lt"/>
              <a:buAutoNum type="arabicPeriod"/>
            </a:pPr>
            <a:r>
              <a:rPr lang="en-US" dirty="0" smtClean="0"/>
              <a:t>Body segmentation</a:t>
            </a:r>
          </a:p>
          <a:p>
            <a:pPr marL="514350" indent="-514350">
              <a:buFont typeface="+mj-lt"/>
              <a:buAutoNum type="arabicPeriod"/>
            </a:pPr>
            <a:r>
              <a:rPr lang="en-US" dirty="0" smtClean="0"/>
              <a:t>Body measurement analysis</a:t>
            </a:r>
          </a:p>
          <a:p>
            <a:pPr marL="514350" indent="-514350">
              <a:buFont typeface="+mj-lt"/>
              <a:buAutoNum type="arabicPeriod"/>
            </a:pPr>
            <a:r>
              <a:rPr lang="en-US" dirty="0" smtClean="0"/>
              <a:t>Garment wrapping</a:t>
            </a:r>
          </a:p>
          <a:p>
            <a:pPr marL="514350" indent="-514350">
              <a:buFont typeface="+mj-lt"/>
              <a:buAutoNum type="arabicPeriod"/>
            </a:pPr>
            <a:r>
              <a:rPr lang="en-US" dirty="0" smtClean="0"/>
              <a:t>Virtual Tryon</a:t>
            </a:r>
          </a:p>
          <a:p>
            <a:pPr marL="514350" indent="-514350">
              <a:buFont typeface="+mj-lt"/>
              <a:buAutoNum type="arabicPeriod"/>
            </a:pPr>
            <a:r>
              <a:rPr lang="en-US" dirty="0" smtClean="0"/>
              <a:t>Fashion recommendation</a:t>
            </a:r>
          </a:p>
          <a:p>
            <a:pPr marL="514350" indent="-514350">
              <a:buFont typeface="+mj-lt"/>
              <a:buAutoNum type="arabicPeriod"/>
            </a:pPr>
            <a:r>
              <a:rPr lang="en-US" dirty="0" smtClean="0"/>
              <a:t>Output</a:t>
            </a:r>
            <a:endParaRPr lang="en-IN" dirty="0"/>
          </a:p>
        </p:txBody>
      </p:sp>
    </p:spTree>
    <p:extLst>
      <p:ext uri="{BB962C8B-B14F-4D97-AF65-F5344CB8AC3E}">
        <p14:creationId xmlns:p14="http://schemas.microsoft.com/office/powerpoint/2010/main" val="11531438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Datasets Collected</a:t>
            </a:r>
            <a:endParaRPr lang="en-IN" dirty="0"/>
          </a:p>
        </p:txBody>
      </p:sp>
      <p:sp>
        <p:nvSpPr>
          <p:cNvPr id="3" name="Content Placeholder 2"/>
          <p:cNvSpPr>
            <a:spLocks noGrp="1"/>
          </p:cNvSpPr>
          <p:nvPr>
            <p:ph idx="1"/>
          </p:nvPr>
        </p:nvSpPr>
        <p:spPr/>
        <p:txBody>
          <a:bodyPr/>
          <a:lstStyle/>
          <a:p>
            <a:r>
              <a:rPr lang="en-US" dirty="0" smtClean="0"/>
              <a:t>Fashion &amp;virtual try-on  datasets</a:t>
            </a:r>
          </a:p>
          <a:p>
            <a:r>
              <a:rPr lang="en-US" dirty="0" err="1" smtClean="0"/>
              <a:t>Deepfashion</a:t>
            </a:r>
            <a:endParaRPr lang="en-US" dirty="0" smtClean="0"/>
          </a:p>
          <a:p>
            <a:r>
              <a:rPr lang="en-US" dirty="0" smtClean="0"/>
              <a:t>VITON-HD</a:t>
            </a:r>
          </a:p>
          <a:p>
            <a:pPr>
              <a:buFont typeface="Wingdings" panose="05000000000000000000" pitchFamily="2" charset="2"/>
              <a:buChar char="Ø"/>
            </a:pPr>
            <a:r>
              <a:rPr lang="en-US" dirty="0" smtClean="0"/>
              <a:t>Used for</a:t>
            </a:r>
          </a:p>
          <a:p>
            <a:r>
              <a:rPr lang="en-US" dirty="0" smtClean="0"/>
              <a:t>Pose detection</a:t>
            </a:r>
          </a:p>
          <a:p>
            <a:r>
              <a:rPr lang="en-US" dirty="0" smtClean="0"/>
              <a:t>Virtual try-on research</a:t>
            </a:r>
          </a:p>
          <a:p>
            <a:r>
              <a:rPr lang="en-US" dirty="0" smtClean="0"/>
              <a:t>Model testing</a:t>
            </a:r>
          </a:p>
          <a:p>
            <a:pPr marL="0" indent="0">
              <a:buNone/>
            </a:pPr>
            <a:endParaRPr lang="en-IN" dirty="0"/>
          </a:p>
        </p:txBody>
      </p:sp>
    </p:spTree>
    <p:extLst>
      <p:ext uri="{BB962C8B-B14F-4D97-AF65-F5344CB8AC3E}">
        <p14:creationId xmlns:p14="http://schemas.microsoft.com/office/powerpoint/2010/main" val="36632283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2D Virtual Try-On Findings</a:t>
            </a:r>
            <a:endParaRPr lang="en-IN" dirty="0"/>
          </a:p>
        </p:txBody>
      </p:sp>
      <p:sp>
        <p:nvSpPr>
          <p:cNvPr id="3" name="Content Placeholder 2"/>
          <p:cNvSpPr>
            <a:spLocks noGrp="1"/>
          </p:cNvSpPr>
          <p:nvPr>
            <p:ph idx="1"/>
          </p:nvPr>
        </p:nvSpPr>
        <p:spPr/>
        <p:txBody>
          <a:bodyPr>
            <a:normAutofit fontScale="62500" lnSpcReduction="20000"/>
          </a:bodyPr>
          <a:lstStyle/>
          <a:p>
            <a:endParaRPr lang="en-IN" dirty="0" smtClean="0"/>
          </a:p>
          <a:p>
            <a:r>
              <a:rPr lang="en-IN" b="1" dirty="0" smtClean="0"/>
              <a:t>Workflow :</a:t>
            </a:r>
          </a:p>
          <a:p>
            <a:r>
              <a:rPr lang="en-IN" dirty="0" smtClean="0"/>
              <a:t>User Image → Pose Detection → Body Segmentation → Garment Alignment → Try-On Output</a:t>
            </a:r>
          </a:p>
          <a:p>
            <a:r>
              <a:rPr lang="en-IN" b="1" dirty="0" smtClean="0"/>
              <a:t>Technologies Explored :</a:t>
            </a:r>
          </a:p>
          <a:p>
            <a:r>
              <a:rPr lang="en-IN" dirty="0" err="1" smtClean="0"/>
              <a:t>OpenCV</a:t>
            </a:r>
            <a:endParaRPr lang="en-IN" dirty="0" smtClean="0"/>
          </a:p>
          <a:p>
            <a:r>
              <a:rPr lang="en-IN" dirty="0" err="1" smtClean="0"/>
              <a:t>MediaPipe</a:t>
            </a:r>
            <a:endParaRPr lang="en-IN" dirty="0" smtClean="0"/>
          </a:p>
          <a:p>
            <a:r>
              <a:rPr lang="en-IN" dirty="0" smtClean="0"/>
              <a:t>Human Parsing Models</a:t>
            </a:r>
          </a:p>
          <a:p>
            <a:r>
              <a:rPr lang="en-IN" dirty="0" smtClean="0"/>
              <a:t>HR-VITON Concepts</a:t>
            </a:r>
          </a:p>
          <a:p>
            <a:r>
              <a:rPr lang="en-IN" b="1" dirty="0" smtClean="0"/>
              <a:t>Key Findings:</a:t>
            </a:r>
          </a:p>
          <a:p>
            <a:r>
              <a:rPr lang="en-IN" dirty="0" smtClean="0"/>
              <a:t>Pose Detection</a:t>
            </a:r>
          </a:p>
          <a:p>
            <a:r>
              <a:rPr lang="en-IN" dirty="0" smtClean="0"/>
              <a:t>Segmentation</a:t>
            </a:r>
          </a:p>
          <a:p>
            <a:r>
              <a:rPr lang="en-IN" dirty="0" smtClean="0"/>
              <a:t>Alignment</a:t>
            </a:r>
          </a:p>
          <a:p>
            <a:r>
              <a:rPr lang="en-IN" dirty="0" err="1" smtClean="0"/>
              <a:t>Preprocessing</a:t>
            </a:r>
            <a:endParaRPr lang="en-IN" dirty="0" smtClean="0"/>
          </a:p>
          <a:p>
            <a:pPr marL="0" indent="0">
              <a:buNone/>
            </a:pPr>
            <a:endParaRPr lang="en-IN" dirty="0" smtClean="0"/>
          </a:p>
        </p:txBody>
      </p:sp>
    </p:spTree>
    <p:extLst>
      <p:ext uri="{BB962C8B-B14F-4D97-AF65-F5344CB8AC3E}">
        <p14:creationId xmlns:p14="http://schemas.microsoft.com/office/powerpoint/2010/main" val="36481440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3D Virtual Try-On Findings</a:t>
            </a:r>
            <a:br>
              <a:rPr lang="en-IN" dirty="0" smtClean="0"/>
            </a:br>
            <a:endParaRPr lang="en-IN" dirty="0"/>
          </a:p>
        </p:txBody>
      </p:sp>
      <p:sp>
        <p:nvSpPr>
          <p:cNvPr id="3" name="Content Placeholder 2"/>
          <p:cNvSpPr>
            <a:spLocks noGrp="1"/>
          </p:cNvSpPr>
          <p:nvPr>
            <p:ph idx="1"/>
          </p:nvPr>
        </p:nvSpPr>
        <p:spPr>
          <a:xfrm>
            <a:off x="838200" y="1605817"/>
            <a:ext cx="10515600" cy="4351338"/>
          </a:xfrm>
        </p:spPr>
        <p:txBody>
          <a:bodyPr>
            <a:normAutofit fontScale="55000" lnSpcReduction="20000"/>
          </a:bodyPr>
          <a:lstStyle/>
          <a:p>
            <a:r>
              <a:rPr lang="en-IN" dirty="0" smtClean="0"/>
              <a:t>RESEARCH AREAS</a:t>
            </a:r>
          </a:p>
          <a:p>
            <a:r>
              <a:rPr lang="en-IN" dirty="0" smtClean="0"/>
              <a:t>3D Avatar Generation</a:t>
            </a:r>
          </a:p>
          <a:p>
            <a:r>
              <a:rPr lang="en-IN" dirty="0" smtClean="0"/>
              <a:t>Body Mesh Reconstruction</a:t>
            </a:r>
          </a:p>
          <a:p>
            <a:r>
              <a:rPr lang="en-IN" dirty="0" smtClean="0"/>
              <a:t>Cloth Simulation</a:t>
            </a:r>
          </a:p>
          <a:p>
            <a:r>
              <a:rPr lang="en-IN" b="1" dirty="0" smtClean="0"/>
              <a:t>TOOLS EXPLORED:</a:t>
            </a:r>
          </a:p>
          <a:p>
            <a:r>
              <a:rPr lang="en-IN" dirty="0" smtClean="0"/>
              <a:t>Blender</a:t>
            </a:r>
          </a:p>
          <a:p>
            <a:r>
              <a:rPr lang="en-IN" dirty="0" smtClean="0"/>
              <a:t>Unity</a:t>
            </a:r>
          </a:p>
          <a:p>
            <a:r>
              <a:rPr lang="en-IN" dirty="0" smtClean="0"/>
              <a:t>http://Three.js</a:t>
            </a:r>
          </a:p>
          <a:p>
            <a:r>
              <a:rPr lang="en-IN" dirty="0" smtClean="0"/>
              <a:t>SMPL Models</a:t>
            </a:r>
          </a:p>
          <a:p>
            <a:r>
              <a:rPr lang="en-IN" b="1" dirty="0" smtClean="0"/>
              <a:t>Key Findings:</a:t>
            </a:r>
          </a:p>
          <a:p>
            <a:r>
              <a:rPr lang="en-IN" dirty="0" smtClean="0"/>
              <a:t>Realistic Visualization</a:t>
            </a:r>
          </a:p>
          <a:p>
            <a:r>
              <a:rPr lang="en-IN" dirty="0" smtClean="0"/>
              <a:t>Interactive Experience</a:t>
            </a:r>
          </a:p>
          <a:p>
            <a:r>
              <a:rPr lang="en-IN" dirty="0" smtClean="0"/>
              <a:t>Real-Time Fitting</a:t>
            </a:r>
          </a:p>
          <a:p>
            <a:r>
              <a:rPr lang="en-IN" dirty="0" smtClean="0"/>
              <a:t>Higher Computational Requirements</a:t>
            </a:r>
          </a:p>
          <a:p>
            <a:r>
              <a:rPr lang="en-IN" dirty="0" smtClean="0"/>
              <a:t>Collaborative Filtering</a:t>
            </a:r>
          </a:p>
          <a:p>
            <a:pPr marL="0" indent="0">
              <a:buNone/>
            </a:pPr>
            <a:endParaRPr lang="en-IN" dirty="0"/>
          </a:p>
        </p:txBody>
      </p:sp>
    </p:spTree>
    <p:extLst>
      <p:ext uri="{BB962C8B-B14F-4D97-AF65-F5344CB8AC3E}">
        <p14:creationId xmlns:p14="http://schemas.microsoft.com/office/powerpoint/2010/main" val="16697274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Challenges Faced and Solutions </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917743318"/>
              </p:ext>
            </p:extLst>
          </p:nvPr>
        </p:nvGraphicFramePr>
        <p:xfrm>
          <a:off x="838200" y="1825622"/>
          <a:ext cx="10515600" cy="3153704"/>
        </p:xfrm>
        <a:graphic>
          <a:graphicData uri="http://schemas.openxmlformats.org/drawingml/2006/table">
            <a:tbl>
              <a:tblPr firstRow="1" bandRow="1">
                <a:tableStyleId>{5C22544A-7EE6-4342-B048-85BDC9FD1C3A}</a:tableStyleId>
              </a:tblPr>
              <a:tblGrid>
                <a:gridCol w="5257800"/>
                <a:gridCol w="5257800"/>
              </a:tblGrid>
              <a:tr h="628406">
                <a:tc>
                  <a:txBody>
                    <a:bodyPr/>
                    <a:lstStyle/>
                    <a:p>
                      <a:r>
                        <a:rPr lang="en-US" dirty="0" smtClean="0"/>
                        <a:t>CHALLENGES</a:t>
                      </a:r>
                      <a:endParaRPr lang="en-IN" dirty="0"/>
                    </a:p>
                  </a:txBody>
                  <a:tcPr/>
                </a:tc>
                <a:tc>
                  <a:txBody>
                    <a:bodyPr/>
                    <a:lstStyle/>
                    <a:p>
                      <a:r>
                        <a:rPr lang="en-US" dirty="0" smtClean="0"/>
                        <a:t>SOLUTIONS</a:t>
                      </a:r>
                      <a:endParaRPr lang="en-IN" dirty="0"/>
                    </a:p>
                  </a:txBody>
                  <a:tcPr/>
                </a:tc>
              </a:tr>
              <a:tr h="628406">
                <a:tc>
                  <a:txBody>
                    <a:bodyPr/>
                    <a:lstStyle/>
                    <a:p>
                      <a:r>
                        <a:rPr lang="en-US" dirty="0" smtClean="0"/>
                        <a:t>Cloth alignment issues</a:t>
                      </a:r>
                      <a:endParaRPr lang="en-IN" dirty="0"/>
                    </a:p>
                  </a:txBody>
                  <a:tcPr/>
                </a:tc>
                <a:tc>
                  <a:txBody>
                    <a:bodyPr/>
                    <a:lstStyle/>
                    <a:p>
                      <a:r>
                        <a:rPr lang="en-US" dirty="0" smtClean="0"/>
                        <a:t>Improved by garment wrapping</a:t>
                      </a:r>
                      <a:endParaRPr lang="en-IN" dirty="0"/>
                    </a:p>
                  </a:txBody>
                  <a:tcPr/>
                </a:tc>
              </a:tr>
              <a:tr h="6284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Pose detection issues</a:t>
                      </a:r>
                      <a:endParaRPr lang="en-IN" dirty="0" smtClean="0"/>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Improved</a:t>
                      </a:r>
                      <a:r>
                        <a:rPr lang="en-US" baseline="0" dirty="0" smtClean="0"/>
                        <a:t> landmark detection</a:t>
                      </a:r>
                      <a:endParaRPr lang="en-IN" dirty="0" smtClean="0"/>
                    </a:p>
                    <a:p>
                      <a:endParaRPr lang="en-IN" dirty="0"/>
                    </a:p>
                  </a:txBody>
                  <a:tcPr/>
                </a:tc>
              </a:tr>
              <a:tr h="628406">
                <a:tc>
                  <a:txBody>
                    <a:bodyPr/>
                    <a:lstStyle/>
                    <a:p>
                      <a:r>
                        <a:rPr lang="en-US" dirty="0" smtClean="0"/>
                        <a:t>Low accuracy</a:t>
                      </a:r>
                      <a:endParaRPr lang="en-IN" dirty="0"/>
                    </a:p>
                  </a:txBody>
                  <a:tcPr/>
                </a:tc>
                <a:tc>
                  <a:txBody>
                    <a:bodyPr/>
                    <a:lstStyle/>
                    <a:p>
                      <a:r>
                        <a:rPr lang="en-US" dirty="0" smtClean="0"/>
                        <a:t>Tried with high</a:t>
                      </a:r>
                      <a:r>
                        <a:rPr lang="en-US" baseline="0" dirty="0" smtClean="0"/>
                        <a:t> resolution images</a:t>
                      </a:r>
                      <a:endParaRPr lang="en-IN" dirty="0"/>
                    </a:p>
                  </a:txBody>
                  <a:tcPr/>
                </a:tc>
              </a:tr>
              <a:tr h="628406">
                <a:tc>
                  <a:txBody>
                    <a:bodyPr/>
                    <a:lstStyle/>
                    <a:p>
                      <a:r>
                        <a:rPr lang="en-US" dirty="0" smtClean="0"/>
                        <a:t>Occlusion handling</a:t>
                      </a:r>
                      <a:endParaRPr lang="en-IN" dirty="0"/>
                    </a:p>
                  </a:txBody>
                  <a:tcPr/>
                </a:tc>
                <a:tc>
                  <a:txBody>
                    <a:bodyPr/>
                    <a:lstStyle/>
                    <a:p>
                      <a:r>
                        <a:rPr lang="en-US" dirty="0" smtClean="0"/>
                        <a:t>Checked</a:t>
                      </a:r>
                      <a:r>
                        <a:rPr lang="en-US" baseline="0" dirty="0" smtClean="0"/>
                        <a:t> landmark visibility score</a:t>
                      </a:r>
                      <a:endParaRPr lang="en-IN" dirty="0"/>
                    </a:p>
                  </a:txBody>
                  <a:tcPr/>
                </a:tc>
              </a:tr>
            </a:tbl>
          </a:graphicData>
        </a:graphic>
      </p:graphicFrame>
    </p:spTree>
    <p:extLst>
      <p:ext uri="{BB962C8B-B14F-4D97-AF65-F5344CB8AC3E}">
        <p14:creationId xmlns:p14="http://schemas.microsoft.com/office/powerpoint/2010/main" val="20899138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Conclusions</a:t>
            </a:r>
            <a:endParaRPr lang="en-IN" dirty="0"/>
          </a:p>
        </p:txBody>
      </p:sp>
      <p:sp>
        <p:nvSpPr>
          <p:cNvPr id="3" name="Content Placeholder 2"/>
          <p:cNvSpPr>
            <a:spLocks noGrp="1"/>
          </p:cNvSpPr>
          <p:nvPr>
            <p:ph idx="1"/>
          </p:nvPr>
        </p:nvSpPr>
        <p:spPr/>
        <p:txBody>
          <a:bodyPr>
            <a:normAutofit/>
          </a:bodyPr>
          <a:lstStyle/>
          <a:p>
            <a:pPr marL="0" indent="0">
              <a:buNone/>
            </a:pPr>
            <a:endParaRPr lang="en-US" dirty="0" smtClean="0"/>
          </a:p>
          <a:p>
            <a:r>
              <a:rPr lang="en-US" dirty="0" smtClean="0"/>
              <a:t>- Implemented real-time human pose estimation using </a:t>
            </a:r>
            <a:r>
              <a:rPr lang="en-US" dirty="0" err="1" smtClean="0"/>
              <a:t>MediaPipe</a:t>
            </a:r>
            <a:r>
              <a:rPr lang="en-US" dirty="0" smtClean="0"/>
              <a:t> for virtual try-on application.</a:t>
            </a:r>
          </a:p>
          <a:p>
            <a:r>
              <a:rPr lang="en-US" dirty="0" smtClean="0"/>
              <a:t>- Studied 2D and 3D Virtual Try-On systems including VITON-HD, Stable VITON, and IDM-VTON.</a:t>
            </a:r>
          </a:p>
          <a:p>
            <a:r>
              <a:rPr lang="en-US" dirty="0" smtClean="0"/>
              <a:t>- Developed an understanding of end-to-end AI fashion workflows from pose detection to garment alignment.</a:t>
            </a:r>
            <a:endParaRPr lang="en-IN" dirty="0"/>
          </a:p>
        </p:txBody>
      </p:sp>
    </p:spTree>
    <p:extLst>
      <p:ext uri="{BB962C8B-B14F-4D97-AF65-F5344CB8AC3E}">
        <p14:creationId xmlns:p14="http://schemas.microsoft.com/office/powerpoint/2010/main" val="24690388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TotalTime>
  <Words>350</Words>
  <Application>Microsoft Office PowerPoint</Application>
  <PresentationFormat>Widescreen</PresentationFormat>
  <Paragraphs>73</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Calibri Light</vt:lpstr>
      <vt:lpstr>Google Sans</vt:lpstr>
      <vt:lpstr>Wingdings</vt:lpstr>
      <vt:lpstr>Office Theme</vt:lpstr>
      <vt:lpstr>Title: AI-Powered Virtual Try-On &amp; Fashion Recommendation System</vt:lpstr>
      <vt:lpstr>PROBLEM STATEMENT</vt:lpstr>
      <vt:lpstr>Research &amp; Comparative Study</vt:lpstr>
      <vt:lpstr>AI Workflow</vt:lpstr>
      <vt:lpstr>Datasets Collected</vt:lpstr>
      <vt:lpstr>2D Virtual Try-On Findings</vt:lpstr>
      <vt:lpstr>3D Virtual Try-On Findings </vt:lpstr>
      <vt:lpstr>Challenges Faced and Solutions </vt:lpstr>
      <vt:lpstr>Conclusions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AI-Powered Virtual Try-On &amp; Fashion Recommendation System</dc:title>
  <dc:creator>Microsoft account</dc:creator>
  <cp:lastModifiedBy>Microsoft account</cp:lastModifiedBy>
  <cp:revision>5</cp:revision>
  <dcterms:created xsi:type="dcterms:W3CDTF">2026-06-05T10:17:02Z</dcterms:created>
  <dcterms:modified xsi:type="dcterms:W3CDTF">2026-06-05T10:55:19Z</dcterms:modified>
</cp:coreProperties>
</file>